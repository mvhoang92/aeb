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al_demo_cutin_80_50_gap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0"/>
            <a:ext cx="597103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17920" y="0"/>
            <a:ext cx="5971032" cy="6858000"/>
          </a:xfrm>
          <a:prstGeom prst="rect">
            <a:avLst/>
          </a:prstGeom>
          <a:solidFill>
            <a:srgbClr val="0A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5394960" cy="117043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Xây dựng hệ thống phanh khẩn cấp tự động AEB trên CARLA 0.9.11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21408"/>
            <a:ext cx="516636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0">
                <a:solidFill>
                  <a:srgbClr val="D2E6F5"/>
                </a:solidFill>
                <a:latin typeface="Arial"/>
              </a:rPr>
              <a:t>Camera + Radar Fusion | YOLO26n | Staged PID | Kiểm thử car-to-car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297680"/>
            <a:ext cx="4892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4297680"/>
            <a:ext cx="4892040" cy="82296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443984"/>
            <a:ext cx="459943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400" b="1">
                <a:solidFill>
                  <a:srgbClr val="38B4CD"/>
                </a:solidFill>
                <a:latin typeface="Arial"/>
              </a:rPr>
              <a:t>Thông tin đồ 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800600"/>
            <a:ext cx="4599432" cy="62179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Arial"/>
              </a:rPr>
              <a:t>Đơn vị: Trường Cơ khí
Trường Công nghệ Thông tin và Truyền thông
GVHD: PGS. TS Phạm Đức 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03504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100" b="0">
                <a:solidFill>
                  <a:srgbClr val="DCE6F0"/>
                </a:solidFill>
                <a:latin typeface="Arial"/>
              </a:rPr>
              <a:t>Hà Nội,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Bài Toán AEB Và Động Lực Thực Hiện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utonomous-emergency-braking-aeb-in-c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5486400" cy="2514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1234440"/>
            <a:ext cx="5486400" cy="2788920"/>
          </a:xfrm>
          <a:prstGeom prst="rect">
            <a:avLst/>
          </a:prstGeom>
          <a:noFill/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234440"/>
            <a:ext cx="5166360" cy="82296"/>
          </a:xfrm>
          <a:prstGeom prst="rect">
            <a:avLst/>
          </a:prstGeom>
          <a:solidFill>
            <a:srgbClr val="1E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1380744"/>
            <a:ext cx="487375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1E69A5"/>
                </a:solidFill>
                <a:latin typeface="Arial"/>
              </a:rPr>
              <a:t>ADAS và AEB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7104" y="1737360"/>
            <a:ext cx="4873752" cy="53035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Arial"/>
              </a:rPr>
              <a:t>AEB là chức năng an toàn chủ động: phát hiện nguy cơ va chạm, cảnh báo và tự động phanh khi người lái chưa phản ứng kịp.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60320"/>
            <a:ext cx="5166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560320"/>
            <a:ext cx="5166360" cy="82296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706624"/>
            <a:ext cx="487375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E69137"/>
                </a:solidFill>
                <a:latin typeface="Arial"/>
              </a:rPr>
              <a:t>Vấn đề kỹ thuật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3063240"/>
            <a:ext cx="4873752" cy="66751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026"/>
                </a:solidFill>
                <a:latin typeface="Arial"/>
              </a:defRPr>
            </a:pPr>
            <a:r>
              <a:t>Nhận biết đúng xe phía trước</a:t>
            </a:r>
          </a:p>
          <a:p>
            <a:pPr>
              <a:spcAft>
                <a:spcPts val="500"/>
              </a:spcAft>
              <a:defRPr sz="1200">
                <a:solidFill>
                  <a:srgbClr val="1C2026"/>
                </a:solidFill>
                <a:latin typeface="Arial"/>
              </a:defRPr>
            </a:pPr>
            <a:r>
              <a:t>Loại xe làn bên, lan can, mặt đường</a:t>
            </a:r>
          </a:p>
          <a:p>
            <a:pPr>
              <a:spcAft>
                <a:spcPts val="500"/>
              </a:spcAft>
              <a:defRPr sz="1200">
                <a:solidFill>
                  <a:srgbClr val="1C2026"/>
                </a:solidFill>
                <a:latin typeface="Arial"/>
              </a:defRPr>
            </a:pPr>
            <a:r>
              <a:t>Ước lượng TTC/khoảng cách dừng</a:t>
            </a:r>
          </a:p>
          <a:p>
            <a:pPr>
              <a:spcAft>
                <a:spcPts val="500"/>
              </a:spcAft>
              <a:defRPr sz="1200">
                <a:solidFill>
                  <a:srgbClr val="1C2026"/>
                </a:solidFill>
                <a:latin typeface="Arial"/>
              </a:defRPr>
            </a:pPr>
            <a:r>
              <a:t>Phanh đủ sớm nhưng hạn chế phanh nhầm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572000"/>
            <a:ext cx="1828800" cy="914400"/>
          </a:xfrm>
          <a:prstGeom prst="roundRect">
            <a:avLst/>
          </a:prstGeom>
          <a:solidFill>
            <a:srgbClr val="2D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4727448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50-80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38928"/>
            <a:ext cx="1682496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km/h mục tiêu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572000"/>
            <a:ext cx="1828800" cy="914400"/>
          </a:xfrm>
          <a:prstGeom prst="roundRect">
            <a:avLst/>
          </a:prstGeom>
          <a:solidFill>
            <a:srgbClr val="1E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4727448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car-to-car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5138928"/>
            <a:ext cx="1682496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cao tốc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28032" y="4572000"/>
            <a:ext cx="1828800" cy="914400"/>
          </a:xfrm>
          <a:prstGeom prst="round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3752" y="4727448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CARLA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1184" y="5138928"/>
            <a:ext cx="1682496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mô phỏng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12864" y="4572000"/>
            <a:ext cx="1828800" cy="914400"/>
          </a:xfrm>
          <a:prstGeom prst="round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58584" y="4727448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20 Hz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016" y="5138928"/>
            <a:ext cx="1682496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chu kỳ xử lý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97696" y="4572000"/>
            <a:ext cx="1828800" cy="914400"/>
          </a:xfrm>
          <a:prstGeom prst="roundRect">
            <a:avLst/>
          </a:prstGeom>
          <a:solidFill>
            <a:srgbClr val="D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43416" y="4727448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100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0848" y="5138928"/>
            <a:ext cx="1682496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tầm radar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Mục Tiêu Và Phạm Vi Đồ Án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429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3429000" cy="82296"/>
          </a:xfrm>
          <a:prstGeom prst="rect">
            <a:avLst/>
          </a:prstGeom>
          <a:solidFill>
            <a:srgbClr val="1E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380744"/>
            <a:ext cx="313639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1E69A5"/>
                </a:solidFill>
                <a:latin typeface="Arial"/>
              </a:rPr>
              <a:t>Mục tiêu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737360"/>
            <a:ext cx="3136392" cy="386791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1C2026"/>
                </a:solidFill>
                <a:latin typeface="Arial"/>
              </a:defRPr>
            </a:pPr>
            <a:r>
              <a:t>Thiết lập ego Tesla Model 3</a:t>
            </a:r>
          </a:p>
          <a:p>
            <a:pPr>
              <a:spcAft>
                <a:spcPts val="500"/>
              </a:spcAft>
              <a:defRPr sz="1220">
                <a:solidFill>
                  <a:srgbClr val="1C2026"/>
                </a:solidFill>
                <a:latin typeface="Arial"/>
              </a:defRPr>
            </a:pPr>
            <a:r>
              <a:t>Gắn camera sau kính lái và radar mũi xe</a:t>
            </a:r>
          </a:p>
          <a:p>
            <a:pPr>
              <a:spcAft>
                <a:spcPts val="500"/>
              </a:spcAft>
              <a:defRPr sz="1220">
                <a:solidFill>
                  <a:srgbClr val="1C2026"/>
                </a:solidFill>
                <a:latin typeface="Arial"/>
              </a:defRPr>
            </a:pPr>
            <a:r>
              <a:t>Xử lý radar object-level</a:t>
            </a:r>
          </a:p>
          <a:p>
            <a:pPr>
              <a:spcAft>
                <a:spcPts val="500"/>
              </a:spcAft>
              <a:defRPr sz="1220">
                <a:solidFill>
                  <a:srgbClr val="1C2026"/>
                </a:solidFill>
                <a:latin typeface="Arial"/>
              </a:defRPr>
            </a:pPr>
            <a:r>
              <a:t>Fine-tune YOLO26n cho lớp car</a:t>
            </a:r>
          </a:p>
          <a:p>
            <a:pPr>
              <a:spcAft>
                <a:spcPts val="500"/>
              </a:spcAft>
              <a:defRPr sz="1220">
                <a:solidFill>
                  <a:srgbClr val="1C2026"/>
                </a:solidFill>
                <a:latin typeface="Arial"/>
              </a:defRPr>
            </a:pPr>
            <a:r>
              <a:t>Fusion camera-radar</a:t>
            </a:r>
          </a:p>
          <a:p>
            <a:pPr>
              <a:spcAft>
                <a:spcPts val="500"/>
              </a:spcAft>
              <a:defRPr sz="1220">
                <a:solidFill>
                  <a:srgbClr val="1C2026"/>
                </a:solidFill>
                <a:latin typeface="Arial"/>
              </a:defRPr>
            </a:pPr>
            <a:r>
              <a:t>Đánh giá rủi ro và staged PID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3429000" cy="82296"/>
          </a:xfrm>
          <a:prstGeom prst="rect">
            <a:avLst/>
          </a:prstGeom>
          <a:solidFill>
            <a:srgbClr val="2D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380744"/>
            <a:ext cx="313639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2DA55F"/>
                </a:solidFill>
                <a:latin typeface="Arial"/>
              </a:rPr>
              <a:t>Phạm 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737360"/>
            <a:ext cx="3136392" cy="386791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1C2026"/>
                </a:solidFill>
                <a:latin typeface="Arial"/>
              </a:defRPr>
            </a:pPr>
            <a:r>
              <a:t>CARLA 0.9.11, Town04</a:t>
            </a:r>
          </a:p>
          <a:p>
            <a:pPr>
              <a:spcAft>
                <a:spcPts val="500"/>
              </a:spcAft>
              <a:defRPr sz="1220">
                <a:solidFill>
                  <a:srgbClr val="1C2026"/>
                </a:solidFill>
                <a:latin typeface="Arial"/>
              </a:defRPr>
            </a:pPr>
            <a:r>
              <a:t>Chỉ xét ô tô trên cao tốc</a:t>
            </a:r>
          </a:p>
          <a:p>
            <a:pPr>
              <a:spcAft>
                <a:spcPts val="500"/>
              </a:spcAft>
              <a:defRPr sz="1220">
                <a:solidFill>
                  <a:srgbClr val="1C2026"/>
                </a:solidFill>
                <a:latin typeface="Arial"/>
              </a:defRPr>
            </a:pPr>
            <a:r>
              <a:t>Thời tiết và ánh sáng lý tưởng</a:t>
            </a:r>
          </a:p>
          <a:p>
            <a:pPr>
              <a:spcAft>
                <a:spcPts val="500"/>
              </a:spcAft>
              <a:defRPr sz="1220">
                <a:solidFill>
                  <a:srgbClr val="1C2026"/>
                </a:solidFill>
                <a:latin typeface="Arial"/>
              </a:defRPr>
            </a:pPr>
            <a:r>
              <a:t>Dải vận tốc ưu tiên 50-80 km/h</a:t>
            </a:r>
          </a:p>
          <a:p>
            <a:pPr>
              <a:spcAft>
                <a:spcPts val="500"/>
              </a:spcAft>
              <a:defRPr sz="1220">
                <a:solidFill>
                  <a:srgbClr val="1C2026"/>
                </a:solidFill>
                <a:latin typeface="Arial"/>
              </a:defRPr>
            </a:pPr>
            <a:r>
              <a:t>Stress test tới 100-110 km/h</a:t>
            </a:r>
          </a:p>
          <a:p>
            <a:pPr>
              <a:spcAft>
                <a:spcPts val="500"/>
              </a:spcAft>
              <a:defRPr sz="1220">
                <a:solidFill>
                  <a:srgbClr val="1C2026"/>
                </a:solidFill>
                <a:latin typeface="Arial"/>
              </a:defRPr>
            </a:pPr>
            <a:r>
              <a:t>Chưa xét pedestrian/cyclist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234440"/>
            <a:ext cx="3429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234440"/>
            <a:ext cx="3429000" cy="82296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3" y="1380744"/>
            <a:ext cx="313639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E69137"/>
                </a:solidFill>
                <a:latin typeface="Arial"/>
              </a:rPr>
              <a:t>Kết quả cần chứng minh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1737360"/>
            <a:ext cx="3136392" cy="386791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1C2026"/>
                </a:solidFill>
                <a:latin typeface="Arial"/>
              </a:defRPr>
            </a:pPr>
            <a:r>
              <a:t>Hoạt động ổn định trong dải thiết kế</a:t>
            </a:r>
          </a:p>
          <a:p>
            <a:pPr>
              <a:spcAft>
                <a:spcPts val="500"/>
              </a:spcAft>
              <a:defRPr sz="1220">
                <a:solidFill>
                  <a:srgbClr val="1C2026"/>
                </a:solidFill>
                <a:latin typeface="Arial"/>
              </a:defRPr>
            </a:pPr>
            <a:r>
              <a:t>Biết trường hợp nào hệ thống bắt đầu thất bại</a:t>
            </a:r>
          </a:p>
          <a:p>
            <a:pPr>
              <a:spcAft>
                <a:spcPts val="500"/>
              </a:spcAft>
              <a:defRPr sz="1220">
                <a:solidFill>
                  <a:srgbClr val="1C2026"/>
                </a:solidFill>
                <a:latin typeface="Arial"/>
              </a:defRPr>
            </a:pPr>
            <a:r>
              <a:t>Có log, biểu đồ, video để kiểm chứng</a:t>
            </a:r>
          </a:p>
          <a:p>
            <a:pPr>
              <a:spcAft>
                <a:spcPts val="500"/>
              </a:spcAft>
              <a:defRPr sz="1220">
                <a:solidFill>
                  <a:srgbClr val="1C2026"/>
                </a:solidFill>
                <a:latin typeface="Arial"/>
              </a:defRPr>
            </a:pPr>
            <a:r>
              <a:t>Pipeline có thể mở rộng sau này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Môi Trường Mô Phỏng CARLA 0.9.11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r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3840480" cy="2880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234440"/>
            <a:ext cx="3840480" cy="2880360"/>
          </a:xfrm>
          <a:prstGeom prst="rect">
            <a:avLst/>
          </a:prstGeom>
          <a:noFill/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0" y="1188720"/>
            <a:ext cx="6629400" cy="22860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C2026"/>
                </a:solidFill>
                <a:latin typeface="Arial"/>
              </a:defRPr>
            </a:pPr>
            <a:r>
              <a:t>CARLA là simulator mã nguồn mở cho nghiên cứu xe tự hành và ADAS.</a:t>
            </a:r>
          </a:p>
          <a:p>
            <a:pPr>
              <a:spcAft>
                <a:spcPts val="500"/>
              </a:spcAft>
              <a:defRPr sz="1500">
                <a:solidFill>
                  <a:srgbClr val="1C2026"/>
                </a:solidFill>
                <a:latin typeface="Arial"/>
              </a:defRPr>
            </a:pPr>
            <a:r>
              <a:t>Cho phép sinh actor, gắn cảm biến, điều khiển kịch bản, ghi log và thu dữ liệu nhãn chuẩn.</a:t>
            </a:r>
          </a:p>
          <a:p>
            <a:pPr>
              <a:spcAft>
                <a:spcPts val="500"/>
              </a:spcAft>
              <a:defRPr sz="1500">
                <a:solidFill>
                  <a:srgbClr val="1C2026"/>
                </a:solidFill>
                <a:latin typeface="Arial"/>
              </a:defRPr>
            </a:pPr>
            <a:r>
              <a:t>Town04 có đường nhiều làn, phù hợp bài toán cao tốc car-to-car.</a:t>
            </a:r>
          </a:p>
          <a:p>
            <a:pPr>
              <a:spcAft>
                <a:spcPts val="500"/>
              </a:spcAft>
              <a:defRPr sz="1500">
                <a:solidFill>
                  <a:srgbClr val="1C2026"/>
                </a:solidFill>
                <a:latin typeface="Arial"/>
              </a:defRPr>
            </a:pPr>
            <a:r>
              <a:t>CARLA 0.9.11 được chọn vì ổn định với PythonAPI/manual_control.py và môi trường máy hiện tại.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92040" y="3822191"/>
          <a:ext cx="6309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/>
                <a:gridCol w="3154680"/>
              </a:tblGrid>
              <a:tr h="24688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Thành phần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Cấu hình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Ego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Tesla Model 3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Map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Town04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Mode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Synchronous 20 Hz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GPU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RTX 3050 Laptop 4 GB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Cấu Hình Xe Và Cảm Biến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nsor_near_side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468" y="1143000"/>
            <a:ext cx="3982720" cy="2240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1143000"/>
            <a:ext cx="5257800" cy="2240280"/>
          </a:xfrm>
          <a:prstGeom prst="rect">
            <a:avLst/>
          </a:prstGeom>
          <a:noFill/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nsor_far_top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" y="3730752"/>
            <a:ext cx="3657600" cy="2057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3730752"/>
            <a:ext cx="5257800" cy="2057400"/>
          </a:xfrm>
          <a:prstGeom prst="rect">
            <a:avLst/>
          </a:prstGeom>
          <a:noFill/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44768" y="1234440"/>
          <a:ext cx="5349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07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Cảm biến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Thông số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7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Camera RGB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1280x720, FOV 70°, 20 Hz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7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Vị trí camera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x=0.43, y=0.0, z=1.35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7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Radar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range 100 m, HFOV/VFOV 30°/6°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7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Vị trí radar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x=2.53, y=0.0, z=0.48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7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PPS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2000 điểm/s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44768" y="3474720"/>
            <a:ext cx="534924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4768" y="3474720"/>
            <a:ext cx="5349240" cy="82296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3621024"/>
            <a:ext cx="505663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38B4CD"/>
                </a:solidFill>
                <a:latin typeface="Arial"/>
              </a:rPr>
              <a:t>Lý do chọn camera + radar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3977640"/>
            <a:ext cx="5056632" cy="877824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220" b="0">
                <a:solidFill>
                  <a:srgbClr val="1C2026"/>
                </a:solidFill>
                <a:latin typeface="Arial"/>
              </a:rPr>
              <a:t>Camera xác nhận vật thể là xe; radar đo khoảng cách và vận tốc tương đối. Cấu hình này gần logic AEB thực tế nhưng vẫn đủ nhẹ để chạy trong mô phỏng.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Kiến Trúc Pipeline Tổng Thể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eb_function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460" y="1234440"/>
            <a:ext cx="764032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5623560"/>
            <a:ext cx="103327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400" b="1">
                <a:solidFill>
                  <a:srgbClr val="142D4B"/>
                </a:solidFill>
                <a:latin typeface="Arial"/>
              </a:rPr>
              <a:t>Chu kỳ xử lý lặp lại theo thời gian mô phỏng 20 Hz: cảm biến → nhận thức → fusion → đánh giá rủi ro → điều khiển phanh.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Quy Trình Phát Triển Và Chọn Phương Án Cuối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3246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3246120" cy="82296"/>
          </a:xfrm>
          <a:prstGeom prst="rect">
            <a:avLst/>
          </a:prstGeom>
          <a:solidFill>
            <a:srgbClr val="1E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472184"/>
            <a:ext cx="29535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300" b="1">
                <a:solidFill>
                  <a:srgbClr val="1E69A5"/>
                </a:solidFill>
                <a:latin typeface="Arial"/>
              </a:rPr>
              <a:t>1. Manual control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2953512" cy="80467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130" b="0">
                <a:solidFill>
                  <a:srgbClr val="1C2026"/>
                </a:solidFill>
                <a:latin typeface="Arial"/>
              </a:rPr>
              <a:t>Giữ giao diện gốc CARLA, thêm panel phụ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325880"/>
            <a:ext cx="3246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7" y="1325880"/>
            <a:ext cx="3246120" cy="82296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1" y="1472184"/>
            <a:ext cx="29535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300" b="1">
                <a:solidFill>
                  <a:srgbClr val="38B4CD"/>
                </a:solidFill>
                <a:latin typeface="Arial"/>
              </a:rPr>
              <a:t>2. Camera/Radar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1" y="1828800"/>
            <a:ext cx="2953512" cy="80467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130" b="0">
                <a:solidFill>
                  <a:srgbClr val="1C2026"/>
                </a:solidFill>
                <a:latin typeface="Arial"/>
              </a:rPr>
              <a:t>Kiểm tra vị trí, góc nhìn, tầm quét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7" y="1325880"/>
            <a:ext cx="3246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7" y="1325880"/>
            <a:ext cx="3246120" cy="82296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1" y="1472184"/>
            <a:ext cx="29535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300" b="1">
                <a:solidFill>
                  <a:srgbClr val="E69137"/>
                </a:solidFill>
                <a:latin typeface="Arial"/>
              </a:rPr>
              <a:t>3. Radar-only AEB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1" y="1828800"/>
            <a:ext cx="2953512" cy="80467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130" b="0">
                <a:solidFill>
                  <a:srgbClr val="1C2026"/>
                </a:solidFill>
                <a:latin typeface="Arial"/>
              </a:rPr>
              <a:t>Baseline TTC/khoảng cách dừng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00399"/>
            <a:ext cx="3246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200399"/>
            <a:ext cx="3246120" cy="82296"/>
          </a:xfrm>
          <a:prstGeom prst="rect">
            <a:avLst/>
          </a:prstGeom>
          <a:solidFill>
            <a:srgbClr val="2D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346703"/>
            <a:ext cx="29535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300" b="1">
                <a:solidFill>
                  <a:srgbClr val="2DA55F"/>
                </a:solidFill>
                <a:latin typeface="Arial"/>
              </a:rPr>
              <a:t>4. YOLO dataset v7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703319"/>
            <a:ext cx="2953512" cy="80467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130" b="0">
                <a:solidFill>
                  <a:srgbClr val="1C2026"/>
                </a:solidFill>
                <a:latin typeface="Arial"/>
              </a:rPr>
              <a:t>Thu dữ liệu same-lane, fine-tune YOLO26n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7" y="3200399"/>
            <a:ext cx="3246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07407" y="3200399"/>
            <a:ext cx="3246120" cy="82296"/>
          </a:xfrm>
          <a:prstGeom prst="rect">
            <a:avLst/>
          </a:prstGeom>
          <a:solidFill>
            <a:srgbClr val="1E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1" y="3346703"/>
            <a:ext cx="29535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300" b="1">
                <a:solidFill>
                  <a:srgbClr val="1E69A5"/>
                </a:solidFill>
                <a:latin typeface="Arial"/>
              </a:rPr>
              <a:t>5. Camera-radar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1" y="3703319"/>
            <a:ext cx="2953512" cy="80467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130" b="0">
                <a:solidFill>
                  <a:srgbClr val="1C2026"/>
                </a:solidFill>
                <a:latin typeface="Arial"/>
              </a:rPr>
              <a:t>Radar đo động học, camera xác nhận xe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6447" y="3200399"/>
            <a:ext cx="3246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6447" y="3200399"/>
            <a:ext cx="3246120" cy="82296"/>
          </a:xfrm>
          <a:prstGeom prst="rect">
            <a:avLst/>
          </a:prstGeom>
          <a:solidFill>
            <a:srgbClr val="D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1" y="3346703"/>
            <a:ext cx="29535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300" b="1">
                <a:solidFill>
                  <a:srgbClr val="DC4141"/>
                </a:solidFill>
                <a:latin typeface="Arial"/>
              </a:rPr>
              <a:t>6. Staged PID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1" y="3703319"/>
            <a:ext cx="2953512" cy="80467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130" b="0">
                <a:solidFill>
                  <a:srgbClr val="1C2026"/>
                </a:solidFill>
                <a:latin typeface="Arial"/>
              </a:rPr>
              <a:t>SAFE/WARNING/SOFT/HARD/EMERGENCY + PID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532120"/>
            <a:ext cx="1060704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400" b="1">
                <a:solidFill>
                  <a:srgbClr val="142D4B"/>
                </a:solidFill>
                <a:latin typeface="Arial"/>
              </a:rPr>
              <a:t>Tư duy chính: kiểm chứng từng khối trước khi ghép thành hệ thống cuối, giữ các bản phanh cũ để đối chiếu.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Xử Lý Radar: Từ Điểm Đo Sang Object-Level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dar_object_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64792"/>
            <a:ext cx="5852160" cy="27797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1234440"/>
            <a:ext cx="48920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0" y="1234440"/>
            <a:ext cx="4892040" cy="82296"/>
          </a:xfrm>
          <a:prstGeom prst="rect">
            <a:avLst/>
          </a:prstGeom>
          <a:solidFill>
            <a:srgbClr val="1E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9984" y="1380744"/>
            <a:ext cx="459943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1E69A5"/>
                </a:solidFill>
                <a:latin typeface="Arial"/>
              </a:rPr>
              <a:t>Các bước chính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9984" y="1737360"/>
            <a:ext cx="4599432" cy="3410711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1C2026"/>
                </a:solidFill>
                <a:latin typeface="Arial"/>
              </a:defRPr>
            </a:pPr>
            <a:r>
              <a:t>Quy đổi điểm radar về hệ tọa độ ego</a:t>
            </a:r>
          </a:p>
          <a:p>
            <a:pPr>
              <a:spcAft>
                <a:spcPts val="500"/>
              </a:spcAft>
              <a:defRPr sz="1230">
                <a:solidFill>
                  <a:srgbClr val="1C2026"/>
                </a:solidFill>
                <a:latin typeface="Arial"/>
              </a:defRPr>
            </a:pPr>
            <a:r>
              <a:t>Lọc theo tầm đo, độ cao, mặt đường và hành lang dự kiến</a:t>
            </a:r>
          </a:p>
          <a:p>
            <a:pPr>
              <a:spcAft>
                <a:spcPts val="500"/>
              </a:spcAft>
              <a:defRPr sz="1230">
                <a:solidFill>
                  <a:srgbClr val="1C2026"/>
                </a:solidFill>
                <a:latin typeface="Arial"/>
              </a:defRPr>
            </a:pPr>
            <a:r>
              <a:t>Gom cụm theo vị trí/vận tốc</a:t>
            </a:r>
          </a:p>
          <a:p>
            <a:pPr>
              <a:spcAft>
                <a:spcPts val="500"/>
              </a:spcAft>
              <a:defRPr sz="1230">
                <a:solidFill>
                  <a:srgbClr val="1C2026"/>
                </a:solidFill>
                <a:latin typeface="Arial"/>
              </a:defRPr>
            </a:pPr>
            <a:r>
              <a:t>Theo dõi qua nhiều frame để xác nhận target</a:t>
            </a:r>
          </a:p>
          <a:p>
            <a:pPr>
              <a:spcAft>
                <a:spcPts val="500"/>
              </a:spcAft>
              <a:defRPr sz="1230">
                <a:solidFill>
                  <a:srgbClr val="1C2026"/>
                </a:solidFill>
                <a:latin typeface="Arial"/>
              </a:defRPr>
            </a:pPr>
            <a:r>
              <a:t>Chọn target nguy hiểm gần nhất trên đường đi ego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5413248"/>
            <a:ext cx="2011680" cy="749808"/>
          </a:xfrm>
          <a:prstGeom prst="roundRect">
            <a:avLst/>
          </a:prstGeom>
          <a:solidFill>
            <a:srgbClr val="1E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5568696"/>
            <a:ext cx="19202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1.25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5980176"/>
            <a:ext cx="1865376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corridor ngang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5413248"/>
            <a:ext cx="2011680" cy="749808"/>
          </a:xfrm>
          <a:prstGeom prst="roundRect">
            <a:avLst/>
          </a:prstGeom>
          <a:solidFill>
            <a:srgbClr val="2D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5568696"/>
            <a:ext cx="19202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 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5980176"/>
            <a:ext cx="1865376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confirm object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30368" y="5413248"/>
            <a:ext cx="2011680" cy="749808"/>
          </a:xfrm>
          <a:prstGeom prst="round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088" y="5568696"/>
            <a:ext cx="19202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 điểm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980176"/>
            <a:ext cx="1865376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min cluster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TTC Và Khoảng Cách Dừng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tc_stopping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38254"/>
            <a:ext cx="4892040" cy="250717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15000" y="1234440"/>
            <a:ext cx="5623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0" y="1234440"/>
            <a:ext cx="5623560" cy="82296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1304" y="1380744"/>
            <a:ext cx="533095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E69137"/>
                </a:solidFill>
                <a:latin typeface="Arial"/>
              </a:rPr>
              <a:t>TTC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1304" y="1737360"/>
            <a:ext cx="5330952" cy="48463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240" b="0">
                <a:solidFill>
                  <a:srgbClr val="1C2026"/>
                </a:solidFill>
                <a:latin typeface="Arial"/>
              </a:rPr>
              <a:t>TTC = khoảng cách / tốc độ đóng lại. TTC nhỏ nghĩa là nguy cơ va chạm gần.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2514600"/>
            <a:ext cx="5623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0" y="2514600"/>
            <a:ext cx="5623560" cy="82296"/>
          </a:xfrm>
          <a:prstGeom prst="rect">
            <a:avLst/>
          </a:prstGeom>
          <a:solidFill>
            <a:srgbClr val="1E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61304" y="2660904"/>
            <a:ext cx="533095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1E69A5"/>
                </a:solidFill>
                <a:latin typeface="Arial"/>
              </a:rPr>
              <a:t>Khoảng cách yêu cầu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1304" y="3017520"/>
            <a:ext cx="5330952" cy="80467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220" b="0">
                <a:solidFill>
                  <a:srgbClr val="1C2026"/>
                </a:solidFill>
                <a:latin typeface="Arial"/>
              </a:rPr>
              <a:t>required_distance = ego_stop_distance - target_stop_distance + offset
Dùng để xem ego còn đủ quãng đường dừng hay không.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4160520"/>
            <a:ext cx="5623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0" y="4160520"/>
            <a:ext cx="5623560" cy="82296"/>
          </a:xfrm>
          <a:prstGeom prst="rect">
            <a:avLst/>
          </a:prstGeom>
          <a:solidFill>
            <a:srgbClr val="2D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61304" y="4306824"/>
            <a:ext cx="533095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2DA55F"/>
                </a:solidFill>
                <a:latin typeface="Arial"/>
              </a:rPr>
              <a:t>Ý nghĩa trong quyết định phanh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1304" y="4663440"/>
            <a:ext cx="5330952" cy="57607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220" b="0">
                <a:solidFill>
                  <a:srgbClr val="1C2026"/>
                </a:solidFill>
                <a:latin typeface="Arial"/>
              </a:rPr>
              <a:t>TTC phản ánh mức khẩn cấp theo thời gian; khoảng cách dừng phản ánh khả năng tránh va chạm theo động học.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Thu Dữ Liệu Và Fine-Tune YOLO26n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olo_val_batch0_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785"/>
            <a:ext cx="5760720" cy="33004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170432"/>
            <a:ext cx="5760720" cy="4389120"/>
          </a:xfrm>
          <a:prstGeom prst="rect">
            <a:avLst/>
          </a:prstGeom>
          <a:noFill/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65392" y="1170432"/>
            <a:ext cx="4800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65392" y="1170432"/>
            <a:ext cx="4800600" cy="82296"/>
          </a:xfrm>
          <a:prstGeom prst="rect">
            <a:avLst/>
          </a:prstGeom>
          <a:solidFill>
            <a:srgbClr val="1E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11696" y="1316736"/>
            <a:ext cx="450799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1E69A5"/>
                </a:solidFill>
                <a:latin typeface="Arial"/>
              </a:rPr>
              <a:t>Vì sao YOLO26n?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1696" y="1673352"/>
            <a:ext cx="4507992" cy="66751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250" b="0">
                <a:solidFill>
                  <a:srgbClr val="1C2026"/>
                </a:solidFill>
                <a:latin typeface="Arial"/>
              </a:rPr>
              <a:t>Bản nano nhẹ, phù hợp laptop 4 GB VRAM và chạy online trong pipeline demo.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65392" y="2697480"/>
          <a:ext cx="4800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Split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Ảnh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Box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Train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1505 ảnh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1872 box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Val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300 ảnh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379 box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Test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200 ảnh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264 box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65392" y="4800600"/>
            <a:ext cx="4800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65392" y="4800600"/>
            <a:ext cx="4800600" cy="82296"/>
          </a:xfrm>
          <a:prstGeom prst="rect">
            <a:avLst/>
          </a:prstGeom>
          <a:solidFill>
            <a:srgbClr val="2D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1696" y="4946904"/>
            <a:ext cx="450799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2DA55F"/>
                </a:solidFill>
                <a:latin typeface="Arial"/>
              </a:rPr>
              <a:t>Nguyên tắc thu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5303520"/>
            <a:ext cx="4507992" cy="25603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180" b="0">
                <a:solidFill>
                  <a:srgbClr val="1C2026"/>
                </a:solidFill>
                <a:latin typeface="Arial"/>
              </a:rPr>
              <a:t>Chạy cùng làn, nhiều mẫu xe/màu xe, khoảng cách ảnh thưa hơn để giảm trùng lặp gần.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Đánh Giá Mô Hình YOLO26n Sau Fine-Tune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olo_trainin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6492240" cy="3246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097280"/>
            <a:ext cx="6492240" cy="4892040"/>
          </a:xfrm>
          <a:prstGeom prst="rect">
            <a:avLst/>
          </a:prstGeom>
          <a:noFill/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0" y="1207008"/>
            <a:ext cx="41605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207008"/>
            <a:ext cx="4160520" cy="82296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61504" y="1353312"/>
            <a:ext cx="38679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38B4CD"/>
                </a:solidFill>
                <a:latin typeface="Arial"/>
              </a:rPr>
              <a:t>Vai trò của YOLO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1504" y="1709928"/>
            <a:ext cx="3867912" cy="603504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Arial"/>
              </a:rPr>
              <a:t>Không trực tiếp quyết định khoảng cách. YOLO xác nhận mục tiêu radar có thực sự là xe trong ảnh camera hay không.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651760"/>
            <a:ext cx="41605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2651760"/>
            <a:ext cx="4160520" cy="82296"/>
          </a:xfrm>
          <a:prstGeom prst="rect">
            <a:avLst/>
          </a:prstGeom>
          <a:solidFill>
            <a:srgbClr val="1E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1504" y="2798064"/>
            <a:ext cx="38679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1E69A5"/>
                </a:solidFill>
                <a:latin typeface="Arial"/>
              </a:rPr>
              <a:t>Đầu ra dùng trong 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1504" y="3154680"/>
            <a:ext cx="3867912" cy="6217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026"/>
                </a:solidFill>
                <a:latin typeface="Arial"/>
              </a:defRPr>
            </a:pPr>
            <a:r>
              <a:t>Bounding box</a:t>
            </a:r>
          </a:p>
          <a:p>
            <a:pPr>
              <a:spcAft>
                <a:spcPts val="500"/>
              </a:spcAft>
              <a:defRPr sz="1200">
                <a:solidFill>
                  <a:srgbClr val="1C2026"/>
                </a:solidFill>
                <a:latin typeface="Arial"/>
              </a:defRPr>
            </a:pPr>
            <a:r>
              <a:t>Confidence</a:t>
            </a:r>
          </a:p>
          <a:p>
            <a:pPr>
              <a:spcAft>
                <a:spcPts val="500"/>
              </a:spcAft>
              <a:defRPr sz="1200">
                <a:solidFill>
                  <a:srgbClr val="1C2026"/>
                </a:solidFill>
                <a:latin typeface="Arial"/>
              </a:defRPr>
            </a:pPr>
            <a:r>
              <a:t>Class car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133087"/>
            <a:ext cx="4160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4133087"/>
            <a:ext cx="4160520" cy="82296"/>
          </a:xfrm>
          <a:prstGeom prst="rect">
            <a:avLst/>
          </a:prstGeom>
          <a:solidFill>
            <a:srgbClr val="2D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61504" y="4279391"/>
            <a:ext cx="38679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2DA55F"/>
                </a:solidFill>
                <a:latin typeface="Arial"/>
              </a:rPr>
              <a:t>Triển khai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1504" y="4636007"/>
            <a:ext cx="3867912" cy="57607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220" b="0">
                <a:solidFill>
                  <a:srgbClr val="1C2026"/>
                </a:solidFill>
                <a:latin typeface="Arial"/>
              </a:rPr>
              <a:t>Mô hình được export ONNX để chạy CUDA trong UI và bài kiểm thử.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Hợp Nhất Camera-Radar Bằng Phép Chiếu Hình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mera_radar_fusion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36861"/>
            <a:ext cx="6492240" cy="33556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1143000"/>
            <a:ext cx="4206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1143000"/>
            <a:ext cx="4206240" cy="82296"/>
          </a:xfrm>
          <a:prstGeom prst="rect">
            <a:avLst/>
          </a:prstGeom>
          <a:solidFill>
            <a:srgbClr val="1E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1504" y="1289304"/>
            <a:ext cx="391363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1E69A5"/>
                </a:solidFill>
                <a:latin typeface="Arial"/>
              </a:rPr>
              <a:t>Logic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1504" y="1645920"/>
            <a:ext cx="3913632" cy="363931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026"/>
                </a:solidFill>
                <a:latin typeface="Arial"/>
              </a:defRPr>
            </a:pPr>
            <a:r>
              <a:t>Radar object có world/location 3D</a:t>
            </a:r>
          </a:p>
          <a:p>
            <a:pPr>
              <a:spcAft>
                <a:spcPts val="500"/>
              </a:spcAft>
              <a:defRPr sz="1200">
                <a:solidFill>
                  <a:srgbClr val="1C2026"/>
                </a:solidFill>
                <a:latin typeface="Arial"/>
              </a:defRPr>
            </a:pPr>
            <a:r>
              <a:t>Biến đổi world → camera</a:t>
            </a:r>
          </a:p>
          <a:p>
            <a:pPr>
              <a:spcAft>
                <a:spcPts val="500"/>
              </a:spcAft>
              <a:defRPr sz="1200">
                <a:solidFill>
                  <a:srgbClr val="1C2026"/>
                </a:solidFill>
                <a:latin typeface="Arial"/>
              </a:defRPr>
            </a:pPr>
            <a:r>
              <a:t>Chiếu 3D → pixel 2D bằng ma trận nội tại</a:t>
            </a:r>
          </a:p>
          <a:p>
            <a:pPr>
              <a:spcAft>
                <a:spcPts val="500"/>
              </a:spcAft>
              <a:defRPr sz="1200">
                <a:solidFill>
                  <a:srgbClr val="1C2026"/>
                </a:solidFill>
                <a:latin typeface="Arial"/>
              </a:defRPr>
            </a:pPr>
            <a:r>
              <a:t>Kiểm tra pixel nằm trong bbox YOLO class car</a:t>
            </a:r>
          </a:p>
          <a:p>
            <a:pPr>
              <a:spcAft>
                <a:spcPts val="500"/>
              </a:spcAft>
              <a:defRPr sz="1200">
                <a:solidFill>
                  <a:srgbClr val="1C2026"/>
                </a:solidFill>
                <a:latin typeface="Arial"/>
              </a:defRPr>
            </a:pPr>
            <a:r>
              <a:t>Camera xác nhận hoặc chặn lệnh phanh do radar đề xuất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742432"/>
            <a:ext cx="107442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300" b="1">
                <a:solidFill>
                  <a:srgbClr val="142D4B"/>
                </a:solidFill>
                <a:latin typeface="Arial"/>
              </a:rPr>
              <a:t>Fusion không lấy sẵn quan hệ radar-pixel từ CARLA; quan hệ này được tính bằng hình học chiếu.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Dự Đoán Quỹ Đạo Ego Và Hành Lang Nguy Hiểm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edicted_path_corri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7637"/>
            <a:ext cx="5989320" cy="32941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12280" y="1234440"/>
            <a:ext cx="4526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12280" y="1234440"/>
            <a:ext cx="4526280" cy="82296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8584" y="1380744"/>
            <a:ext cx="423367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E69137"/>
                </a:solidFill>
                <a:latin typeface="Arial"/>
              </a:rPr>
              <a:t>Mục đích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8584" y="1737360"/>
            <a:ext cx="4233672" cy="66751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210" b="0">
                <a:solidFill>
                  <a:srgbClr val="1C2026"/>
                </a:solidFill>
                <a:latin typeface="Arial"/>
              </a:rPr>
              <a:t>Không phải vật thể nào trong vùng radar cũng nguy hiểm. Cần biết vật thể có nằm trên đường ego sắp đi qua không.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2743200"/>
            <a:ext cx="4526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12280" y="2743200"/>
            <a:ext cx="4526280" cy="82296"/>
          </a:xfrm>
          <a:prstGeom prst="rect">
            <a:avLst/>
          </a:prstGeom>
          <a:solidFill>
            <a:srgbClr val="1E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58584" y="2889504"/>
            <a:ext cx="423367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1E69A5"/>
                </a:solidFill>
                <a:latin typeface="Arial"/>
              </a:rPr>
              <a:t>Nguồn dữ liệu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8584" y="3246120"/>
            <a:ext cx="4233672" cy="62179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210" b="0">
                <a:solidFill>
                  <a:srgbClr val="1C2026"/>
                </a:solidFill>
                <a:latin typeface="Arial"/>
              </a:rPr>
              <a:t>Vận tốc ego, yaw rate/steering và hướng xe. Không dùng ground truth mục tiêu để quyết định phanh.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4224528"/>
            <a:ext cx="4526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4224528"/>
            <a:ext cx="4526280" cy="82296"/>
          </a:xfrm>
          <a:prstGeom prst="rect">
            <a:avLst/>
          </a:prstGeom>
          <a:solidFill>
            <a:srgbClr val="2D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58584" y="4370832"/>
            <a:ext cx="423367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2DA55F"/>
                </a:solidFill>
                <a:latin typeface="Arial"/>
              </a:rPr>
              <a:t>Tác dụng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8584" y="4727448"/>
            <a:ext cx="4233672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210" b="0">
                <a:solidFill>
                  <a:srgbClr val="1C2026"/>
                </a:solidFill>
                <a:latin typeface="Arial"/>
              </a:rPr>
              <a:t>Giảm phanh nhầm với xe làn bên, lan can và vật thể ngoài hành lang di chuyển.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Điều Khiển Phanh Bằng Staged PID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eb_staged_pid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45557"/>
            <a:ext cx="5669280" cy="264684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097280"/>
            <a:ext cx="4892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0" y="1097280"/>
            <a:ext cx="4892040" cy="82296"/>
          </a:xfrm>
          <a:prstGeom prst="rect">
            <a:avLst/>
          </a:prstGeom>
          <a:solidFill>
            <a:srgbClr val="1E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38544" y="1243584"/>
            <a:ext cx="459943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1E69A5"/>
                </a:solidFill>
                <a:latin typeface="Arial"/>
              </a:rPr>
              <a:t>Vì sao staged PID?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544" y="1600200"/>
            <a:ext cx="4599432" cy="85039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180" b="0">
                <a:solidFill>
                  <a:srgbClr val="1C2026"/>
                </a:solidFill>
                <a:latin typeface="Arial"/>
              </a:rPr>
              <a:t>Binary brake dễ kiểm chứng nhưng phanh gắt. PID liên tục êm hơn nhưng cần trạng thái để biết khi nào cảnh báo, phanh nhẹ, phanh mạnh hoặc nhả phanh.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10528" y="2816352"/>
          <a:ext cx="48463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Ngưỡng/Tham số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WARNING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TTC ≤ 3.0 s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BRAKE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TTC ≤ 1.5 s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RELEASE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TTC ≥ 3.5 s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PID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kp=0.12, ki=0.01, kd=0.0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0" y="5230368"/>
            <a:ext cx="466344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250" b="1">
                <a:solidFill>
                  <a:srgbClr val="142D4B"/>
                </a:solidFill>
                <a:latin typeface="Arial"/>
              </a:rPr>
              <a:t>Bản cuối dùng staged PID để đạt cân bằng giữa an toàn và hạn chế phanh nhầm.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Giao Diện Demo Cuối: 3 Màn Hình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nal_demo_cutin_80_50_gap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6137"/>
            <a:ext cx="7498079" cy="421766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078992"/>
            <a:ext cx="7498079" cy="4251960"/>
          </a:xfrm>
          <a:prstGeom prst="rect">
            <a:avLst/>
          </a:prstGeom>
          <a:noFill/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21040" y="1170432"/>
            <a:ext cx="3108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21040" y="1170432"/>
            <a:ext cx="3108960" cy="82296"/>
          </a:xfrm>
          <a:prstGeom prst="rect">
            <a:avLst/>
          </a:prstGeom>
          <a:solidFill>
            <a:srgbClr val="1E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67344" y="1316736"/>
            <a:ext cx="281635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1E69A5"/>
                </a:solidFill>
                <a:latin typeface="Arial"/>
              </a:rPr>
              <a:t>Camera + YOLO + 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67344" y="1673352"/>
            <a:ext cx="2816352" cy="48463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180" b="0">
                <a:solidFill>
                  <a:srgbClr val="1C2026"/>
                </a:solidFill>
                <a:latin typeface="Arial"/>
              </a:rPr>
              <a:t>Theo dõi bbox, target và trạng thái AEB.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542032"/>
            <a:ext cx="3108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2542032"/>
            <a:ext cx="3108960" cy="82296"/>
          </a:xfrm>
          <a:prstGeom prst="rect">
            <a:avLst/>
          </a:prstGeom>
          <a:solidFill>
            <a:srgbClr val="2D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2688336"/>
            <a:ext cx="281635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2DA55F"/>
                </a:solidFill>
                <a:latin typeface="Arial"/>
              </a:rPr>
              <a:t>Manual/chase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044952"/>
            <a:ext cx="2816352" cy="43891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180" b="0">
                <a:solidFill>
                  <a:srgbClr val="1C2026"/>
                </a:solidFill>
                <a:latin typeface="Arial"/>
              </a:rPr>
              <a:t>Quan sát xe ego và kịch bản trong CARLA.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858768"/>
            <a:ext cx="3108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3858768"/>
            <a:ext cx="3108960" cy="82296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7344" y="4005072"/>
            <a:ext cx="281635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E69137"/>
                </a:solidFill>
                <a:latin typeface="Arial"/>
              </a:rPr>
              <a:t>Radar bird-eye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4361688"/>
            <a:ext cx="2816352" cy="53035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180" b="0">
                <a:solidFill>
                  <a:srgbClr val="1C2026"/>
                </a:solidFill>
                <a:latin typeface="Arial"/>
              </a:rPr>
              <a:t>Hiển thị điểm radar, object, target và vùng quét.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50992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300" b="1">
                <a:solidFill>
                  <a:srgbClr val="142D4B"/>
                </a:solidFill>
                <a:latin typeface="Arial"/>
              </a:rPr>
              <a:t>UI dùng để demo, quay video và kiểm tra trực quan quyết định của thuật toán.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Thiết Kế Kiểm Thử: Dải Thiết Kế Và Stress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70432"/>
            <a:ext cx="51663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5166360" cy="82296"/>
          </a:xfrm>
          <a:prstGeom prst="rect">
            <a:avLst/>
          </a:prstGeom>
          <a:solidFill>
            <a:srgbClr val="2D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487375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2DA55F"/>
                </a:solidFill>
                <a:latin typeface="Arial"/>
              </a:rPr>
              <a:t>Dải thiết kế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73352"/>
            <a:ext cx="4873752" cy="21762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2026"/>
                </a:solidFill>
                <a:latin typeface="Arial"/>
              </a:defRPr>
            </a:pPr>
            <a:r>
              <a:t>Cao tốc Town04</a:t>
            </a:r>
          </a:p>
          <a:p>
            <a:pPr>
              <a:spcAft>
                <a:spcPts val="500"/>
              </a:spcAft>
              <a:defRPr sz="1300">
                <a:solidFill>
                  <a:srgbClr val="1C2026"/>
                </a:solidFill>
                <a:latin typeface="Arial"/>
              </a:defRPr>
            </a:pPr>
            <a:r>
              <a:t>Only car, thời tiết lý tưởng</a:t>
            </a:r>
          </a:p>
          <a:p>
            <a:pPr>
              <a:spcAft>
                <a:spcPts val="500"/>
              </a:spcAft>
              <a:defRPr sz="1300">
                <a:solidFill>
                  <a:srgbClr val="1C2026"/>
                </a:solidFill>
                <a:latin typeface="Arial"/>
              </a:defRPr>
            </a:pPr>
            <a:r>
              <a:t>Vận tốc ego chủ yếu 50-80 km/h</a:t>
            </a:r>
          </a:p>
          <a:p>
            <a:pPr>
              <a:spcAft>
                <a:spcPts val="500"/>
              </a:spcAft>
              <a:defRPr sz="1300">
                <a:solidFill>
                  <a:srgbClr val="1C2026"/>
                </a:solidFill>
                <a:latin typeface="Arial"/>
              </a:defRPr>
            </a:pPr>
            <a:r>
              <a:t>Mục tiêu: phải đạt ổn định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170432"/>
            <a:ext cx="51663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170432"/>
            <a:ext cx="5166360" cy="82296"/>
          </a:xfrm>
          <a:prstGeom prst="rect">
            <a:avLst/>
          </a:prstGeom>
          <a:solidFill>
            <a:srgbClr val="D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316736"/>
            <a:ext cx="487375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DC4141"/>
                </a:solidFill>
                <a:latin typeface="Arial"/>
              </a:rPr>
              <a:t>Stress test / tìm giới hạn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1673352"/>
            <a:ext cx="4873752" cy="21762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2026"/>
                </a:solidFill>
                <a:latin typeface="Arial"/>
              </a:defRPr>
            </a:pPr>
            <a:r>
              <a:t>Tăng tốc lên 95-110 km/h</a:t>
            </a:r>
          </a:p>
          <a:p>
            <a:pPr>
              <a:spcAft>
                <a:spcPts val="500"/>
              </a:spcAft>
              <a:defRPr sz="1300">
                <a:solidFill>
                  <a:srgbClr val="1C2026"/>
                </a:solidFill>
                <a:latin typeface="Arial"/>
              </a:defRPr>
            </a:pPr>
            <a:r>
              <a:t>Gap ngắn 20-25 m</a:t>
            </a:r>
          </a:p>
          <a:p>
            <a:pPr>
              <a:spcAft>
                <a:spcPts val="500"/>
              </a:spcAft>
              <a:defRPr sz="1300">
                <a:solidFill>
                  <a:srgbClr val="1C2026"/>
                </a:solidFill>
                <a:latin typeface="Arial"/>
              </a:defRPr>
            </a:pPr>
            <a:r>
              <a:t>Xe trước phanh gấp hoặc cut-in gần</a:t>
            </a:r>
          </a:p>
          <a:p>
            <a:pPr>
              <a:spcAft>
                <a:spcPts val="500"/>
              </a:spcAft>
              <a:defRPr sz="1300">
                <a:solidFill>
                  <a:srgbClr val="1C2026"/>
                </a:solidFill>
                <a:latin typeface="Arial"/>
              </a:defRPr>
            </a:pPr>
            <a:r>
              <a:t>Mục tiêu: xác định biên hoạt động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97280" y="4407408"/>
          <a:ext cx="1001268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6340"/>
                <a:gridCol w="5006340"/>
              </a:tblGrid>
              <a:tr h="210312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Nhóm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Ý nghĩa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CCRs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xe trước đứng yên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CCRm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xe trước chạy chậm hơn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CCRb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xe trước phanh gấp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Cut-in/Curve/Multi-actor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bổ sung để tìm giới hạn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22960" y="5742432"/>
            <a:ext cx="1056132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250" b="1">
                <a:solidFill>
                  <a:srgbClr val="142D4B"/>
                </a:solidFill>
                <a:latin typeface="Arial"/>
              </a:rPr>
              <a:t>Các nhóm CCRs/CCRm/CCRb lấy cảm hứng từ cách đánh giá AEB car-to-car của NCAP.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Kết Quả Kiểm Thử Cuối Cùng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057400" cy="1097280"/>
          </a:xfrm>
          <a:prstGeom prst="roundRect">
            <a:avLst/>
          </a:prstGeom>
          <a:solidFill>
            <a:srgbClr val="1E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35608"/>
            <a:ext cx="196596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847088"/>
            <a:ext cx="1911096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kịch bản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280160"/>
            <a:ext cx="2057400" cy="1097280"/>
          </a:xfrm>
          <a:prstGeom prst="roundRect">
            <a:avLst/>
          </a:prstGeom>
          <a:solidFill>
            <a:srgbClr val="2D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435608"/>
            <a:ext cx="196596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1847088"/>
            <a:ext cx="1911096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đạt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280160"/>
            <a:ext cx="2057400" cy="1097280"/>
          </a:xfrm>
          <a:prstGeom prst="roundRect">
            <a:avLst/>
          </a:prstGeom>
          <a:solidFill>
            <a:srgbClr val="D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435608"/>
            <a:ext cx="196596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5232" y="1847088"/>
            <a:ext cx="1911096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không đạt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280160"/>
            <a:ext cx="2057400" cy="1097280"/>
          </a:xfrm>
          <a:prstGeom prst="round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435608"/>
            <a:ext cx="196596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95.45%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1847088"/>
            <a:ext cx="1911096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tỷ lệ tổng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60120" y="2926080"/>
          <a:ext cx="10149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968"/>
                <a:gridCol w="2029968"/>
                <a:gridCol w="2029968"/>
                <a:gridCol w="2029968"/>
                <a:gridCol w="202996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Nhóm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Tổng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Đạt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Không đạt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Diễn giải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Dải thiết kế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Hoàn thành mục tiêu chính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Stress test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28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Xác định giới hạn hệ thống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960120" y="4892040"/>
            <a:ext cx="10149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" y="4892040"/>
            <a:ext cx="10149840" cy="82296"/>
          </a:xfrm>
          <a:prstGeom prst="rect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6424" y="5038344"/>
            <a:ext cx="985723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142D4B"/>
                </a:solidFill>
                <a:latin typeface="Arial"/>
              </a:rPr>
              <a:t>Cách đọc kết quả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" y="5394960"/>
            <a:ext cx="9857232" cy="210312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220" b="0">
                <a:solidFill>
                  <a:srgbClr val="1C2026"/>
                </a:solidFill>
                <a:latin typeface="Arial"/>
              </a:rPr>
              <a:t>Không chỉ nhìn tỷ lệ pass tổng. Kết luận chính là đạt 38/38 trong dải thiết kế; các fail ở stress test được dùng để chỉ ra giới hạn.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Case Đại Diện Đạt: Cut-In 80/50 Gap 25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mo_cutin_80_50_gap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6996"/>
            <a:ext cx="5440680" cy="30603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115568"/>
            <a:ext cx="5440680" cy="3063240"/>
          </a:xfrm>
          <a:prstGeom prst="rect">
            <a:avLst/>
          </a:prstGeom>
          <a:noFill/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rake_profile_cutin_80_50_gap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276" y="1115568"/>
            <a:ext cx="4403407" cy="3063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63640" y="1115568"/>
            <a:ext cx="5440680" cy="3063240"/>
          </a:xfrm>
          <a:prstGeom prst="rect">
            <a:avLst/>
          </a:prstGeom>
          <a:noFill/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4526280"/>
          <a:ext cx="103327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Chỉ số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Giá trị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Brake start speed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79.92 km/h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Brake start gap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10.46 m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Min bumper gap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5.51 m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Kết luận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Đạt - fusion xác nhận đủ sớm để phanh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Case Giới Hạn: CCRb 95 km/h Gap 20 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mo_ccrb_95_gap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6996"/>
            <a:ext cx="5440680" cy="30603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115568"/>
            <a:ext cx="5440680" cy="3063240"/>
          </a:xfrm>
          <a:prstGeom prst="rect">
            <a:avLst/>
          </a:prstGeom>
          <a:noFill/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rake_profile_ccrb_95_gap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276" y="1115568"/>
            <a:ext cx="4403407" cy="3063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63640" y="1115568"/>
            <a:ext cx="5440680" cy="3063240"/>
          </a:xfrm>
          <a:prstGeom prst="rect">
            <a:avLst/>
          </a:prstGeom>
          <a:noFill/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4526280"/>
          <a:ext cx="103327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Chỉ số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Giá trị</a:t>
                      </a:r>
                    </a:p>
                  </a:txBody>
                  <a:tcPr marL="36576" marR="36576" marT="22860" marB="22860">
                    <a:solidFill>
                      <a:srgbClr val="142D4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Brake start speed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94.90 km/h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Brake start gap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18.56 m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Min bumper gap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0.013 m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Kết luận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C2026"/>
                          </a:solidFill>
                          <a:latin typeface="Arial"/>
                        </a:defRPr>
                      </a:pPr>
                      <a:r>
                        <a:t>Không đạt - tốc độ cao và gap 20 m vượt biên an toàn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2400" b="1">
                <a:solidFill>
                  <a:srgbClr val="142D4B"/>
                </a:solidFill>
                <a:latin typeface="Arial"/>
              </a:rPr>
              <a:t>Đóng Góp, Hạn Chế Và Hướng Phát Triển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8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143000"/>
            <a:ext cx="34747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3474720" cy="82296"/>
          </a:xfrm>
          <a:prstGeom prst="rect">
            <a:avLst/>
          </a:prstGeom>
          <a:solidFill>
            <a:srgbClr val="2DA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89304"/>
            <a:ext cx="31821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2DA55F"/>
                </a:solidFill>
                <a:latin typeface="Arial"/>
              </a:rPr>
              <a:t>Đóng góp chính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645920"/>
            <a:ext cx="3182112" cy="3593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500"/>
              </a:spcAft>
              <a:defRPr sz="1180">
                <a:solidFill>
                  <a:srgbClr val="1C2026"/>
                </a:solidFill>
                <a:latin typeface="Arial"/>
              </a:defRPr>
            </a:pPr>
            <a:r>
              <a:t>Pipeline end-to-end trong CARLA</a:t>
            </a:r>
          </a:p>
          <a:p>
            <a:pPr>
              <a:spcAft>
                <a:spcPts val="500"/>
              </a:spcAft>
              <a:defRPr sz="1180">
                <a:solidFill>
                  <a:srgbClr val="1C2026"/>
                </a:solidFill>
                <a:latin typeface="Arial"/>
              </a:defRPr>
            </a:pPr>
            <a:r>
              <a:t>Radar object-level + predicted path</a:t>
            </a:r>
          </a:p>
          <a:p>
            <a:pPr>
              <a:spcAft>
                <a:spcPts val="500"/>
              </a:spcAft>
              <a:defRPr sz="1180">
                <a:solidFill>
                  <a:srgbClr val="1C2026"/>
                </a:solidFill>
                <a:latin typeface="Arial"/>
              </a:defRPr>
            </a:pPr>
            <a:r>
              <a:t>YOLO26n fine-tune cho camera ego</a:t>
            </a:r>
          </a:p>
          <a:p>
            <a:pPr>
              <a:spcAft>
                <a:spcPts val="500"/>
              </a:spcAft>
              <a:defRPr sz="1180">
                <a:solidFill>
                  <a:srgbClr val="1C2026"/>
                </a:solidFill>
                <a:latin typeface="Arial"/>
              </a:defRPr>
            </a:pPr>
            <a:r>
              <a:t>Fusion camera-radar bằng chiếu hình học</a:t>
            </a:r>
          </a:p>
          <a:p>
            <a:pPr>
              <a:spcAft>
                <a:spcPts val="500"/>
              </a:spcAft>
              <a:defRPr sz="1180">
                <a:solidFill>
                  <a:srgbClr val="1C2026"/>
                </a:solidFill>
                <a:latin typeface="Arial"/>
              </a:defRPr>
            </a:pPr>
            <a:r>
              <a:t>Staged PID và bộ test tìm giới hạn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143000"/>
            <a:ext cx="34747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143000"/>
            <a:ext cx="3474720" cy="82296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289304"/>
            <a:ext cx="31821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E69137"/>
                </a:solidFill>
                <a:latin typeface="Arial"/>
              </a:rPr>
              <a:t>Hạn chế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1645920"/>
            <a:ext cx="3182112" cy="3593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500"/>
              </a:spcAft>
              <a:defRPr sz="1180">
                <a:solidFill>
                  <a:srgbClr val="1C2026"/>
                </a:solidFill>
                <a:latin typeface="Arial"/>
              </a:defRPr>
            </a:pPr>
            <a:r>
              <a:t>Chỉ mô phỏng car-to-car cao tốc</a:t>
            </a:r>
          </a:p>
          <a:p>
            <a:pPr>
              <a:spcAft>
                <a:spcPts val="500"/>
              </a:spcAft>
              <a:defRPr sz="1180">
                <a:solidFill>
                  <a:srgbClr val="1C2026"/>
                </a:solidFill>
                <a:latin typeface="Arial"/>
              </a:defRPr>
            </a:pPr>
            <a:r>
              <a:t>Radar CARLA không phải tín hiệu FMCW thô</a:t>
            </a:r>
          </a:p>
          <a:p>
            <a:pPr>
              <a:spcAft>
                <a:spcPts val="500"/>
              </a:spcAft>
              <a:defRPr sz="1180">
                <a:solidFill>
                  <a:srgbClr val="1C2026"/>
                </a:solidFill>
                <a:latin typeface="Arial"/>
              </a:defRPr>
            </a:pPr>
            <a:r>
              <a:t>Dataset chủ yếu Town04, thời tiết lý tưởng</a:t>
            </a:r>
          </a:p>
          <a:p>
            <a:pPr>
              <a:spcAft>
                <a:spcPts val="500"/>
              </a:spcAft>
              <a:defRPr sz="1180">
                <a:solidFill>
                  <a:srgbClr val="1C2026"/>
                </a:solidFill>
                <a:latin typeface="Arial"/>
              </a:defRPr>
            </a:pPr>
            <a:r>
              <a:t>Jerk/gia tốc chỉ nên dùng so sánh tương đối trong CARLA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1143000"/>
            <a:ext cx="34747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11312" y="1143000"/>
            <a:ext cx="3474720" cy="82296"/>
          </a:xfrm>
          <a:prstGeom prst="rect">
            <a:avLst/>
          </a:prstGeom>
          <a:solidFill>
            <a:srgbClr val="1E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289304"/>
            <a:ext cx="318211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1500" b="1">
                <a:solidFill>
                  <a:srgbClr val="1E69A5"/>
                </a:solidFill>
                <a:latin typeface="Arial"/>
              </a:rPr>
              <a:t>Hướng phát triển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1645920"/>
            <a:ext cx="3182112" cy="3593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500"/>
              </a:spcAft>
              <a:defRPr sz="1180">
                <a:solidFill>
                  <a:srgbClr val="1C2026"/>
                </a:solidFill>
                <a:latin typeface="Arial"/>
              </a:defRPr>
            </a:pPr>
            <a:r>
              <a:t>Mở rộng NCAP/ISO scenario</a:t>
            </a:r>
          </a:p>
          <a:p>
            <a:pPr>
              <a:spcAft>
                <a:spcPts val="500"/>
              </a:spcAft>
              <a:defRPr sz="1180">
                <a:solidFill>
                  <a:srgbClr val="1C2026"/>
                </a:solidFill>
                <a:latin typeface="Arial"/>
              </a:defRPr>
            </a:pPr>
            <a:r>
              <a:t>Fusion xác suất/Kalman tracking</a:t>
            </a:r>
          </a:p>
          <a:p>
            <a:pPr>
              <a:spcAft>
                <a:spcPts val="500"/>
              </a:spcAft>
              <a:defRPr sz="1180">
                <a:solidFill>
                  <a:srgbClr val="1C2026"/>
                </a:solidFill>
                <a:latin typeface="Arial"/>
              </a:defRPr>
            </a:pPr>
            <a:r>
              <a:t>Mưa, đêm, đô thị, pedestrian/cyclist</a:t>
            </a:r>
          </a:p>
          <a:p>
            <a:pPr>
              <a:spcAft>
                <a:spcPts val="500"/>
              </a:spcAft>
              <a:defRPr sz="1180">
                <a:solidFill>
                  <a:srgbClr val="1C2026"/>
                </a:solidFill>
                <a:latin typeface="Arial"/>
              </a:defRPr>
            </a:pPr>
            <a:r>
              <a:t>Tối ưu ONNX/TensorRT</a:t>
            </a:r>
          </a:p>
          <a:p>
            <a:pPr>
              <a:spcAft>
                <a:spcPts val="500"/>
              </a:spcAft>
              <a:defRPr sz="1180">
                <a:solidFill>
                  <a:srgbClr val="1C2026"/>
                </a:solidFill>
                <a:latin typeface="Arial"/>
              </a:defRPr>
            </a:pPr>
            <a:r>
              <a:t>Tự động sinh báo cáo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687568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ctr"/>
            <a:r>
              <a:rPr sz="1350" b="1">
                <a:solidFill>
                  <a:srgbClr val="142D4B"/>
                </a:solidFill>
                <a:latin typeface="Arial"/>
              </a:rPr>
              <a:t>Kết luận: đạt mục tiêu trong dải thiết kế 50-80 km/h và xác định được giới hạn khi tăng độ khó.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l"/>
            <a:r>
              <a:rPr sz="850" b="0">
                <a:solidFill>
                  <a:srgbClr val="555F6E"/>
                </a:solidFill>
                <a:latin typeface="Arial"/>
              </a:rPr>
              <a:t>Đồ án AEB trên CARLA 0.9.11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37960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normAutofit/>
          </a:bodyPr>
          <a:lstStyle/>
          <a:p>
            <a:pPr algn="r"/>
            <a:r>
              <a:rPr sz="850" b="0">
                <a:solidFill>
                  <a:srgbClr val="555F6E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